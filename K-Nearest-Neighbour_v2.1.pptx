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Y6Q4asP5MpOHrQT3nt6nH0sRs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1d744a3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5f1d744a3b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3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4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5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6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5"/>
          <p:cNvSpPr txBox="1"/>
          <p:nvPr/>
        </p:nvSpPr>
        <p:spPr>
          <a:xfrm>
            <a:off x="0" y="4869656"/>
            <a:ext cx="3276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2025  Skillogic ®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DataMites™. All Rights Reserved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 with medium confidence" id="15" name="Google Shape;1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61225" y="4461024"/>
            <a:ext cx="1492200" cy="36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6" name="Google Shape;1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2461" y="4547049"/>
            <a:ext cx="1246906" cy="3225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1295400" y="2069905"/>
            <a:ext cx="6477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cap="none"/>
              <a:t>K-Nearest Neighbours</a:t>
            </a:r>
            <a:endParaRPr b="0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429225" y="2683225"/>
            <a:ext cx="61776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Supervised Machine Learning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Classification/Regression Algorithm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What is K-Nearest Neighbours?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How KNN works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KNN</a:t>
            </a:r>
            <a:r>
              <a:rPr lang="en-US" sz="2400"/>
              <a:t> Assumptions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Pros and Cons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Applications of KNN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Modeling K-Nearest Neighbours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304800" y="133350"/>
            <a:ext cx="67818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What is K-Nearest Neighbours algorithm?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533400" y="1047750"/>
            <a:ext cx="7543800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K-Nearest Neighbors (KNN) is one of the fundamental algorithms for classification  in Machine Learning.  KNN need labeled data to learn  and, so belongs to the supervised learning category.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KNN is widely disposable in real-life scenarios since it is non-parametric, meaning, it does not make any underlying assumptions about the distribution of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267700" y="146875"/>
            <a:ext cx="6096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How K-Nearest Neighbours Works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457200" y="1200151"/>
            <a:ext cx="4267200" cy="3276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KNN works based on minimum distance from the query instance to the training samples to determine the K-nearest neighbors.</a:t>
            </a:r>
            <a:endParaRPr sz="2200"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225093"/>
            <a:ext cx="2794000" cy="25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512444" y="68308"/>
            <a:ext cx="668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1-Nearest Neighbor</a:t>
            </a:r>
            <a:endParaRPr/>
          </a:p>
        </p:txBody>
      </p:sp>
      <p:pic>
        <p:nvPicPr>
          <p:cNvPr descr="Screen Shot 2014-09-13 at 12.49.20 PM.png" id="115" name="Google Shape;115;p5"/>
          <p:cNvPicPr preferRelativeResize="0"/>
          <p:nvPr/>
        </p:nvPicPr>
        <p:blipFill rotWithShape="1">
          <a:blip r:embed="rId3">
            <a:alphaModFix/>
          </a:blip>
          <a:srcRect b="8930" l="2223" r="1111" t="0"/>
          <a:stretch/>
        </p:blipFill>
        <p:spPr>
          <a:xfrm>
            <a:off x="1295400" y="842893"/>
            <a:ext cx="6629400" cy="378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3661400" y="2469849"/>
            <a:ext cx="193724" cy="185642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459605" y="2292278"/>
            <a:ext cx="613457" cy="548855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762000" y="1375"/>
            <a:ext cx="668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2-Nearest Neighbor</a:t>
            </a:r>
            <a:endParaRPr/>
          </a:p>
        </p:txBody>
      </p:sp>
      <p:pic>
        <p:nvPicPr>
          <p:cNvPr descr="Screen Shot 2014-09-13 at 12.49.20 PM.png" id="123" name="Google Shape;123;p6"/>
          <p:cNvPicPr preferRelativeResize="0"/>
          <p:nvPr/>
        </p:nvPicPr>
        <p:blipFill rotWithShape="1">
          <a:blip r:embed="rId3">
            <a:alphaModFix/>
          </a:blip>
          <a:srcRect b="7098" l="3332" r="3333" t="0"/>
          <a:stretch/>
        </p:blipFill>
        <p:spPr>
          <a:xfrm>
            <a:off x="1371600" y="842893"/>
            <a:ext cx="6400800" cy="386245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3661400" y="2469849"/>
            <a:ext cx="193724" cy="185642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043085" y="1854909"/>
            <a:ext cx="1446498" cy="1423592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838200" y="33180"/>
            <a:ext cx="668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3-Nearest Neighbor</a:t>
            </a:r>
            <a:endParaRPr/>
          </a:p>
        </p:txBody>
      </p:sp>
      <p:pic>
        <p:nvPicPr>
          <p:cNvPr descr="Screen Shot 2014-09-13 at 12.49.20 PM.png" id="131" name="Google Shape;131;p7"/>
          <p:cNvPicPr preferRelativeResize="0"/>
          <p:nvPr/>
        </p:nvPicPr>
        <p:blipFill rotWithShape="1">
          <a:blip r:embed="rId3">
            <a:alphaModFix/>
          </a:blip>
          <a:srcRect b="3429" l="2221" r="3332" t="1261"/>
          <a:stretch/>
        </p:blipFill>
        <p:spPr>
          <a:xfrm>
            <a:off x="1351360" y="819150"/>
            <a:ext cx="64770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3661400" y="2469849"/>
            <a:ext cx="193724" cy="185642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787547" y="1546661"/>
            <a:ext cx="1925288" cy="1894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838200" y="1211"/>
            <a:ext cx="668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8-Nearest Neighbor</a:t>
            </a:r>
            <a:endParaRPr/>
          </a:p>
        </p:txBody>
      </p:sp>
      <p:pic>
        <p:nvPicPr>
          <p:cNvPr descr="Screen Shot 2014-09-13 at 12.49.20 PM.png" id="139" name="Google Shape;139;p8"/>
          <p:cNvPicPr preferRelativeResize="0"/>
          <p:nvPr/>
        </p:nvPicPr>
        <p:blipFill rotWithShape="1">
          <a:blip r:embed="rId3">
            <a:alphaModFix/>
          </a:blip>
          <a:srcRect b="5265" l="2222" r="5555" t="3095"/>
          <a:stretch/>
        </p:blipFill>
        <p:spPr>
          <a:xfrm>
            <a:off x="1295400" y="971551"/>
            <a:ext cx="6324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3661400" y="2469849"/>
            <a:ext cx="193724" cy="185642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493126" y="1216929"/>
            <a:ext cx="2562559" cy="2521979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457200" y="133350"/>
            <a:ext cx="5791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Pros of K-Nearest Neighbours </a:t>
            </a:r>
            <a:endParaRPr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457200" y="895350"/>
            <a:ext cx="8229600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Simple to implement</a:t>
            </a:r>
            <a:endParaRPr sz="2200"/>
          </a:p>
          <a:p>
            <a:pPr indent="-3302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Flexible to handle non-linearity</a:t>
            </a:r>
            <a:endParaRPr sz="2200"/>
          </a:p>
          <a:p>
            <a:pPr indent="-3302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Naturally handles multi-class cases</a:t>
            </a:r>
            <a:endParaRPr sz="2200"/>
          </a:p>
          <a:p>
            <a:pPr indent="-330200" lvl="0" marL="34290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Can do well in practice with enough representative data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Cons of K-Nearest Neighbour</a:t>
            </a:r>
            <a:endParaRPr/>
          </a:p>
        </p:txBody>
      </p:sp>
      <p:sp>
        <p:nvSpPr>
          <p:cNvPr id="153" name="Google Shape;153;p10"/>
          <p:cNvSpPr txBox="1"/>
          <p:nvPr>
            <p:ph idx="1" type="body"/>
          </p:nvPr>
        </p:nvSpPr>
        <p:spPr>
          <a:xfrm>
            <a:off x="457200" y="895350"/>
            <a:ext cx="8229600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Need to predefine value of parameter K (number of nearest neighbors) </a:t>
            </a:r>
            <a:endParaRPr sz="2200"/>
          </a:p>
          <a:p>
            <a:pPr indent="-330200" lvl="0" marL="342900" rtl="0" algn="l">
              <a:lnSpc>
                <a:spcPct val="120000"/>
              </a:lnSpc>
              <a:spcBef>
                <a:spcPts val="1128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Computation cost is quite high because we need to compute distance of each query instance to all training samples. </a:t>
            </a:r>
            <a:endParaRPr sz="2200"/>
          </a:p>
          <a:p>
            <a:pPr indent="-3302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Storage of data</a:t>
            </a:r>
            <a:endParaRPr sz="2200"/>
          </a:p>
          <a:p>
            <a:pPr indent="-3302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Must know we have a meaningful distance function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457200" y="133350"/>
            <a:ext cx="62484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Popular Applications of KNN</a:t>
            </a:r>
            <a:endParaRPr/>
          </a:p>
        </p:txBody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457200" y="1047750"/>
            <a:ext cx="8229600" cy="3546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6560" lvl="1" marL="429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US" sz="2200"/>
              <a:t>Concept Search : Searching for semantically similar documents (i.e., documents containing similar topics)</a:t>
            </a:r>
            <a:endParaRPr sz="2200"/>
          </a:p>
          <a:p>
            <a:pPr indent="-416560" lvl="1" marL="42926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US" sz="2200"/>
              <a:t>Recommender Systems : If a customer likes a particular item, then you can recommend </a:t>
            </a:r>
            <a:r>
              <a:rPr i="1" lang="en-US" sz="2200"/>
              <a:t>similar </a:t>
            </a:r>
            <a:r>
              <a:rPr lang="en-US" sz="2200"/>
              <a:t>items for them. Also in Ads display etc.,</a:t>
            </a:r>
            <a:endParaRPr sz="2200"/>
          </a:p>
          <a:p>
            <a:pPr indent="-416560" lvl="1" marL="42926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US" sz="2200"/>
              <a:t>Facial recognition, Fingerprint detection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title"/>
          </p:nvPr>
        </p:nvSpPr>
        <p:spPr>
          <a:xfrm>
            <a:off x="0" y="133350"/>
            <a:ext cx="668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Controlling for Complexity in kNN</a:t>
            </a:r>
            <a:endParaRPr/>
          </a:p>
        </p:txBody>
      </p:sp>
      <p:pic>
        <p:nvPicPr>
          <p:cNvPr descr="BiasVariance.png" id="165" name="Google Shape;1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0" y="1237256"/>
            <a:ext cx="5125212" cy="329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1d744a3b_0_3"/>
          <p:cNvSpPr txBox="1"/>
          <p:nvPr>
            <p:ph type="title"/>
          </p:nvPr>
        </p:nvSpPr>
        <p:spPr>
          <a:xfrm>
            <a:off x="457200" y="133350"/>
            <a:ext cx="6248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K-Nearest Neighbours</a:t>
            </a:r>
            <a:endParaRPr/>
          </a:p>
        </p:txBody>
      </p:sp>
      <p:sp>
        <p:nvSpPr>
          <p:cNvPr id="171" name="Google Shape;171;g35f1d744a3b_0_3"/>
          <p:cNvSpPr txBox="1"/>
          <p:nvPr>
            <p:ph idx="1" type="body"/>
          </p:nvPr>
        </p:nvSpPr>
        <p:spPr>
          <a:xfrm>
            <a:off x="457200" y="1047750"/>
            <a:ext cx="6939900" cy="24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914400" rtl="0" algn="ctr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None/>
            </a:pPr>
            <a:r>
              <a:rPr lang="en-US" sz="2500"/>
              <a:t>KNN in action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