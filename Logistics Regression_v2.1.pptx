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wUt1pm0QmgG7g3yn3z3eq6v/4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8458200" y="4850606"/>
            <a:ext cx="533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5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34200" y="116292"/>
            <a:ext cx="1981200" cy="51256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5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6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1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21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3"/>
          <p:cNvSpPr txBox="1"/>
          <p:nvPr/>
        </p:nvSpPr>
        <p:spPr>
          <a:xfrm>
            <a:off x="0" y="4869656"/>
            <a:ext cx="3886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2025  Skillogic ®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DataMites™. All Rights Reserved 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 with medium confidence" id="15" name="Google Shape;1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61225" y="4461024"/>
            <a:ext cx="1492200" cy="36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6" name="Google Shape;1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2461" y="4547049"/>
            <a:ext cx="1246906" cy="32259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type="title"/>
          </p:nvPr>
        </p:nvSpPr>
        <p:spPr>
          <a:xfrm>
            <a:off x="0" y="1931744"/>
            <a:ext cx="9144000" cy="128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cap="none"/>
              <a:t>Logistic Regressio</a:t>
            </a:r>
            <a:r>
              <a:rPr lang="en-US"/>
              <a:t>n</a:t>
            </a:r>
            <a:endParaRPr b="0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2053350" y="4686975"/>
            <a:ext cx="76071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© DataMites® and Skillogic</a:t>
            </a:r>
            <a:r>
              <a:rPr lang="en-US" sz="900">
                <a:solidFill>
                  <a:srgbClr val="000000"/>
                </a:solidFill>
              </a:rPr>
              <a:t>®</a:t>
            </a:r>
            <a:r>
              <a:rPr lang="en-US" sz="900"/>
              <a:t> are part of Skillfloor Solutions Private Limited. All rights reserved</a:t>
            </a:r>
            <a:endParaRPr sz="900"/>
          </a:p>
        </p:txBody>
      </p:sp>
      <p:sp>
        <p:nvSpPr>
          <p:cNvPr id="84" name="Google Shape;84;p1"/>
          <p:cNvSpPr txBox="1"/>
          <p:nvPr/>
        </p:nvSpPr>
        <p:spPr>
          <a:xfrm>
            <a:off x="1429225" y="2683225"/>
            <a:ext cx="61776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Supervised Machine Learning</a:t>
            </a:r>
            <a:endParaRPr sz="2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Classification Algorithm</a:t>
            </a:r>
            <a:endParaRPr sz="2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Course Topics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1123950"/>
            <a:ext cx="85344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What is Logistic Regression?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How the algorithm works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Logistic Regression assumptions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Pros and Cons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Applications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Modeling Logistic Regression with Python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91" name="Google Shape;91;p2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What is Logistic Regression?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228600" y="895350"/>
            <a:ext cx="6514171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Logistic Regression is a classification algorithm that can predict a categorical variable.</a:t>
            </a:r>
            <a:endParaRPr sz="2000"/>
          </a:p>
          <a:p>
            <a:pPr indent="-355600" lvl="0" marL="3429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dependent variable is a binary variable that contains data coded as 1 (Yes/True..) or 0 (No/False..).</a:t>
            </a:r>
            <a:endParaRPr sz="2000"/>
          </a:p>
          <a:p>
            <a:pPr indent="-3302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model arrives at the prediction by computing the probability of a class, say Class 1 to be the correct label.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8170" l="14077" r="12278" t="6910"/>
          <a:stretch/>
        </p:blipFill>
        <p:spPr>
          <a:xfrm>
            <a:off x="6623825" y="713676"/>
            <a:ext cx="2520176" cy="249089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65" y="846825"/>
            <a:ext cx="3352800" cy="1136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Logistic Regression works?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684635"/>
            <a:ext cx="4816517" cy="150099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/>
        </p:nvSpPr>
        <p:spPr>
          <a:xfrm>
            <a:off x="492967" y="3362249"/>
            <a:ext cx="34701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Boundaries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h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&gt;= 0.5  then we say y = 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h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&lt;   0.5 then we say  y = 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2851" y="1200150"/>
            <a:ext cx="3908497" cy="286839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Assumptions of Logistic Regression</a:t>
            </a:r>
            <a:endParaRPr/>
          </a:p>
        </p:txBody>
      </p:sp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28656" l="28465" r="29184" t="29963"/>
          <a:stretch/>
        </p:blipFill>
        <p:spPr>
          <a:xfrm>
            <a:off x="3196683" y="1709388"/>
            <a:ext cx="2178204" cy="1724723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1449659" y="2161798"/>
            <a:ext cx="1979341" cy="1072055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Multicollinearity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296114" y="828451"/>
            <a:ext cx="1979341" cy="1072055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Outcomes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543550" y="2035721"/>
            <a:ext cx="1979341" cy="1072055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sample size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296114" y="3452686"/>
            <a:ext cx="1979341" cy="1072055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Absence of outliers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Pros of Logistic Regression</a:t>
            </a:r>
            <a:endParaRPr/>
          </a:p>
        </p:txBody>
      </p:sp>
      <p:pic>
        <p:nvPicPr>
          <p:cNvPr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5853" r="50000" t="21825"/>
          <a:stretch/>
        </p:blipFill>
        <p:spPr>
          <a:xfrm>
            <a:off x="0" y="706244"/>
            <a:ext cx="5999356" cy="418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/>
        </p:nvSpPr>
        <p:spPr>
          <a:xfrm>
            <a:off x="5999356" y="706244"/>
            <a:ext cx="3144644" cy="418301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Cons of Logistic Regression</a:t>
            </a:r>
            <a:endParaRPr/>
          </a:p>
        </p:txBody>
      </p:sp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50000" r="0" t="21969"/>
          <a:stretch/>
        </p:blipFill>
        <p:spPr>
          <a:xfrm>
            <a:off x="-1" y="713541"/>
            <a:ext cx="6110869" cy="4163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 txBox="1"/>
          <p:nvPr/>
        </p:nvSpPr>
        <p:spPr>
          <a:xfrm>
            <a:off x="6110868" y="713541"/>
            <a:ext cx="3033132" cy="417571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Applications of  Logistic Regression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457200" y="895350"/>
            <a:ext cx="5549590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Image Segmentation and Categorization</a:t>
            </a:r>
            <a:endParaRPr sz="1800"/>
          </a:p>
          <a:p>
            <a:pPr indent="-3048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Handwriting recognition</a:t>
            </a:r>
            <a:endParaRPr sz="1800"/>
          </a:p>
          <a:p>
            <a:pPr indent="-3048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Spam filtering -- spam or not spam</a:t>
            </a:r>
            <a:endParaRPr sz="1800"/>
          </a:p>
          <a:p>
            <a:pPr indent="-3048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Cell image -- cancer or normal</a:t>
            </a:r>
            <a:endParaRPr sz="1800"/>
          </a:p>
          <a:p>
            <a:pPr indent="-3048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Production line part scan -- good or defective</a:t>
            </a:r>
            <a:endParaRPr sz="1800"/>
          </a:p>
          <a:p>
            <a:pPr indent="-1905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800"/>
          </a:p>
        </p:txBody>
      </p:sp>
      <p:pic>
        <p:nvPicPr>
          <p:cNvPr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3141" y="3002923"/>
            <a:ext cx="3278460" cy="1591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8"/>
          <p:cNvPicPr preferRelativeResize="0"/>
          <p:nvPr/>
        </p:nvPicPr>
        <p:blipFill rotWithShape="1">
          <a:blip r:embed="rId4">
            <a:alphaModFix/>
          </a:blip>
          <a:srcRect b="0" l="2814" r="2336" t="3322"/>
          <a:stretch/>
        </p:blipFill>
        <p:spPr>
          <a:xfrm>
            <a:off x="5865550" y="1025802"/>
            <a:ext cx="3278450" cy="17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Modeling Logistic Regression</a:t>
            </a:r>
            <a:endParaRPr/>
          </a:p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Classification in action</a:t>
            </a:r>
            <a:endParaRPr/>
          </a:p>
        </p:txBody>
      </p:sp>
      <p:sp>
        <p:nvSpPr>
          <p:cNvPr id="152" name="Google Shape;152;p9"/>
          <p:cNvSpPr txBox="1"/>
          <p:nvPr/>
        </p:nvSpPr>
        <p:spPr>
          <a:xfrm>
            <a:off x="6831980" y="133350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