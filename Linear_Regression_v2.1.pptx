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BLy47GP0pDSdJhBzuQWjHg3vz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4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0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2"/>
          <p:cNvSpPr txBox="1"/>
          <p:nvPr/>
        </p:nvSpPr>
        <p:spPr>
          <a:xfrm>
            <a:off x="0" y="486965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Skillo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gic ®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DataMites™. All Rights Reserved 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5" name="Google Shape;15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12461" y="4547049"/>
            <a:ext cx="1246906" cy="322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 with medium confidence" id="16" name="Google Shape;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1225" y="4461024"/>
            <a:ext cx="1492200" cy="3631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jpg"/><Relationship Id="rId5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type="title"/>
          </p:nvPr>
        </p:nvSpPr>
        <p:spPr>
          <a:xfrm>
            <a:off x="0" y="1779344"/>
            <a:ext cx="9144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cap="none">
                <a:latin typeface="Calibri"/>
                <a:ea typeface="Calibri"/>
                <a:cs typeface="Calibri"/>
                <a:sym typeface="Calibri"/>
              </a:rPr>
              <a:t>Linear Regression</a:t>
            </a:r>
            <a:br>
              <a:rPr lang="en-US" cap="none">
                <a:latin typeface="Calibri"/>
                <a:ea typeface="Calibri"/>
                <a:cs typeface="Calibri"/>
                <a:sym typeface="Calibri"/>
              </a:rPr>
            </a:br>
            <a:endParaRPr b="0" sz="280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2053350" y="4686975"/>
            <a:ext cx="7607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© DataMites® and Skillogic</a:t>
            </a:r>
            <a:r>
              <a:rPr lang="en-US" sz="900">
                <a:solidFill>
                  <a:srgbClr val="000000"/>
                </a:solidFill>
              </a:rPr>
              <a:t>®</a:t>
            </a:r>
            <a:r>
              <a:rPr lang="en-US" sz="900"/>
              <a:t> are part of Skillfloor Solutions Private Limited. All rights reserved</a:t>
            </a:r>
            <a:endParaRPr sz="900"/>
          </a:p>
        </p:txBody>
      </p:sp>
      <p:sp>
        <p:nvSpPr>
          <p:cNvPr id="83" name="Google Shape;83;p1"/>
          <p:cNvSpPr txBox="1"/>
          <p:nvPr/>
        </p:nvSpPr>
        <p:spPr>
          <a:xfrm>
            <a:off x="1429225" y="2683225"/>
            <a:ext cx="6177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Supervised Machine Learning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Regression Algorithm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Linear Regression?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the algorithm works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Linear Regression Assumptions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Linear Regression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Linear Regression?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228600" y="895350"/>
            <a:ext cx="6989956" cy="3513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Linear Regression is a Supervised Machine Learning Algorithm.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Linear Regression is used to predict the continuous value.</a:t>
            </a:r>
            <a:endParaRPr/>
          </a:p>
          <a:p>
            <a:pPr indent="-203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Linear Regression is used to identify the linear relationship between dependent and independent variables.</a:t>
            </a:r>
            <a:endParaRPr sz="2000"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6732" l="0" r="18641" t="7970"/>
          <a:stretch/>
        </p:blipFill>
        <p:spPr>
          <a:xfrm>
            <a:off x="7277100" y="1100254"/>
            <a:ext cx="1866900" cy="28223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Linear Regression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839076"/>
            <a:ext cx="3771580" cy="179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2859225"/>
            <a:ext cx="6942841" cy="1822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Assumptions of Linear Regression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304800" y="1010707"/>
            <a:ext cx="5493834" cy="3464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b="1" lang="en-US" sz="2000"/>
              <a:t>Linear Relationship</a:t>
            </a:r>
            <a:r>
              <a:rPr lang="en-US" sz="2000"/>
              <a:t>: There should be a linear relationship between dependent and independent variables.</a:t>
            </a:r>
            <a:endParaRPr sz="2000"/>
          </a:p>
          <a:p>
            <a:pPr indent="-20066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240"/>
              <a:buChar char="•"/>
            </a:pPr>
            <a:r>
              <a:rPr b="1" lang="en-US" sz="2000"/>
              <a:t>Multivariate normality :  </a:t>
            </a:r>
            <a:r>
              <a:rPr lang="en-US" sz="2000"/>
              <a:t>Linear regression analysis requires all variables to be multivariate normal</a:t>
            </a:r>
            <a:r>
              <a:rPr b="1" lang="en-US" sz="2000"/>
              <a:t>. Residual (Error)</a:t>
            </a:r>
            <a:r>
              <a:rPr lang="en-US" sz="2000"/>
              <a:t> should be following normal distribution.</a:t>
            </a:r>
            <a:endParaRPr b="1" sz="2000"/>
          </a:p>
          <a:p>
            <a:pPr indent="-20066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b="1" lang="en-US" sz="2000"/>
              <a:t>No or little collinearity: </a:t>
            </a:r>
            <a:r>
              <a:rPr lang="en-US" sz="2000"/>
              <a:t>Linear regression assume that there is no multi-collinearity in the data, i.e. the independent variables are not interrelated.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48908" l="2442" r="69075" t="16694"/>
          <a:stretch/>
        </p:blipFill>
        <p:spPr>
          <a:xfrm>
            <a:off x="5872974" y="743415"/>
            <a:ext cx="2601951" cy="163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46082" l="65787" r="0" t="19147"/>
          <a:stretch/>
        </p:blipFill>
        <p:spPr>
          <a:xfrm>
            <a:off x="5713485" y="2560418"/>
            <a:ext cx="3125715" cy="178837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Linear Regression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895350"/>
            <a:ext cx="822960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734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Linear regression is an extremely simple method. It is very easy and intuitive to use and understand.</a:t>
            </a:r>
            <a:endParaRPr sz="2200"/>
          </a:p>
          <a:p>
            <a:pPr indent="-30734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Widely used, as many problems can be transformed into linear regression problems.</a:t>
            </a:r>
            <a:endParaRPr sz="2200"/>
          </a:p>
          <a:p>
            <a:pPr indent="-30734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With regularization techniques, handling overfitting issue quite well.</a:t>
            </a:r>
            <a:endParaRPr sz="22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200"/>
          </a:p>
          <a:p>
            <a:pPr indent="-1905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200"/>
          </a:p>
        </p:txBody>
      </p:sp>
      <p:sp>
        <p:nvSpPr>
          <p:cNvPr id="122" name="Google Shape;122;p6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Linear Regression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457200" y="819150"/>
            <a:ext cx="8229600" cy="377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Assumes there is a straight-line (Linear) relationship between them. If your data are intrinsically nonlinear then linear regression may not yield best results.</a:t>
            </a:r>
            <a:endParaRPr sz="2200"/>
          </a:p>
          <a:p>
            <a:pPr indent="-3302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Linear regression is very sensitive to the outliers in the data.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8219" l="68228" r="1826" t="57380"/>
          <a:stretch/>
        </p:blipFill>
        <p:spPr>
          <a:xfrm>
            <a:off x="929268" y="2825296"/>
            <a:ext cx="2735766" cy="176932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Applications of  Linear Regression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457200" y="895350"/>
            <a:ext cx="6260084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300"/>
              <a:t>Majority continuous variable predictions are through Linear Regression in business applications.</a:t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300"/>
              <a:t>Here are some applications--</a:t>
            </a:r>
            <a:endParaRPr sz="3100"/>
          </a:p>
          <a:p>
            <a:pPr indent="-33655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/>
              <a:t>Stock Exchange – Price predictions</a:t>
            </a:r>
            <a:endParaRPr sz="3100"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300"/>
              <a:t>Weather forecast - </a:t>
            </a:r>
            <a:r>
              <a:rPr i="0" lang="en-US" sz="2500">
                <a:solidFill>
                  <a:srgbClr val="0D0D0D"/>
                </a:solidFill>
              </a:rPr>
              <a:t>temperatures</a:t>
            </a:r>
            <a:endParaRPr sz="2500"/>
          </a:p>
          <a:p>
            <a:pPr indent="-33655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/>
              <a:t>Flight price prediction</a:t>
            </a:r>
            <a:endParaRPr sz="3100"/>
          </a:p>
          <a:p>
            <a:pPr indent="-33655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/>
              <a:t>House price predictions</a:t>
            </a:r>
            <a:endParaRPr sz="3100"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534" y="711500"/>
            <a:ext cx="2331466" cy="130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534" y="1997622"/>
            <a:ext cx="2325132" cy="149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534" y="3492350"/>
            <a:ext cx="2331466" cy="1396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Linear Regression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Regression in action</a:t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